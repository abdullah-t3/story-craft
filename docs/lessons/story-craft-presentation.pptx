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200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7624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D9E75">
              <a:alpha val="3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EF9F27">
              <a:alpha val="25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640080"/>
            <a:ext cx="1097280" cy="1097280"/>
          </a:xfrm>
          <a:prstGeom prst="ellipse">
            <a:avLst/>
          </a:prstGeom>
          <a:solidFill>
            <a:srgbClr val="DB5A30">
              <a:alpha val="65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· MOBILE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DF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Craft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قصصي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6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Arabic &amp; English storybook app for kids.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914400" cy="0"/>
          </a:xfrm>
          <a:prstGeom prst="line">
            <a:avLst/>
          </a:prstGeom>
          <a:noFill/>
          <a:ln w="38100">
            <a:solidFill>
              <a:srgbClr val="EF9F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680960" y="3493008"/>
            <a:ext cx="146304" cy="146304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82128" y="34564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52560" y="3493008"/>
            <a:ext cx="146304" cy="146304"/>
          </a:xfrm>
          <a:prstGeom prst="ellipse">
            <a:avLst/>
          </a:prstGeom>
          <a:solidFill>
            <a:srgbClr val="DB5A30"/>
          </a:solidFill>
          <a:ln w="12700">
            <a:solidFill>
              <a:srgbClr val="DB5A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53728" y="34564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424160" y="3493008"/>
            <a:ext cx="146304" cy="146304"/>
          </a:xfrm>
          <a:prstGeom prst="ellipse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25328" y="34564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794760"/>
            <a:ext cx="5349240" cy="502920"/>
          </a:xfrm>
          <a:prstGeom prst="rect">
            <a:avLst/>
          </a:prstGeom>
          <a:solidFill>
            <a:srgbClr val="FDF6E3">
              <a:alpha val="10000"/>
            </a:srgbClr>
          </a:solidFill>
          <a:ln w="9525">
            <a:solidFill>
              <a:srgbClr val="DB5A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794760"/>
            <a:ext cx="73152" cy="502920"/>
          </a:xfrm>
          <a:prstGeom prst="rect">
            <a:avLst/>
          </a:prstGeom>
          <a:solidFill>
            <a:srgbClr val="DB5A30"/>
          </a:solidFill>
          <a:ln w="12700">
            <a:solidFill>
              <a:srgbClr val="DB5A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8404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20231506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74520" y="3822192"/>
            <a:ext cx="3520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عبدالله احمد حسن سعد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32120" y="3931920"/>
            <a:ext cx="411480" cy="228600"/>
          </a:xfrm>
          <a:prstGeom prst="roundRect">
            <a:avLst>
              <a:gd name="adj" fmla="val 20000"/>
            </a:avLst>
          </a:prstGeom>
          <a:solidFill>
            <a:srgbClr val="DB5A30"/>
          </a:solidFill>
          <a:ln w="12700">
            <a:solidFill>
              <a:srgbClr val="DB5A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39136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51960" y="3886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i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Team Lead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4370832"/>
            <a:ext cx="5349240" cy="502920"/>
          </a:xfrm>
          <a:prstGeom prst="rect">
            <a:avLst/>
          </a:prstGeom>
          <a:solidFill>
            <a:srgbClr val="FDF6E3">
              <a:alpha val="10000"/>
            </a:srgbClr>
          </a:solidFill>
          <a:ln w="9525">
            <a:solidFill>
              <a:srgbClr val="74C69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370832"/>
            <a:ext cx="73152" cy="502920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4416552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20231559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74520" y="4398264"/>
            <a:ext cx="3520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حسام محمد علي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532120" y="4507992"/>
            <a:ext cx="411480" cy="228600"/>
          </a:xfrm>
          <a:prstGeom prst="roundRect">
            <a:avLst>
              <a:gd name="adj" fmla="val 20000"/>
            </a:avLst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44897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4946904"/>
            <a:ext cx="5349240" cy="502920"/>
          </a:xfrm>
          <a:prstGeom prst="rect">
            <a:avLst/>
          </a:prstGeom>
          <a:solidFill>
            <a:srgbClr val="FDF6E3">
              <a:alpha val="10000"/>
            </a:srgbClr>
          </a:solidFill>
          <a:ln w="9525">
            <a:solidFill>
              <a:srgbClr val="74C69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4946904"/>
            <a:ext cx="73152" cy="502920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" y="4992624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20231353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874520" y="4974336"/>
            <a:ext cx="3520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مريم سيد سيد سعودى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532120" y="5084064"/>
            <a:ext cx="411480" cy="228600"/>
          </a:xfrm>
          <a:prstGeom prst="roundRect">
            <a:avLst>
              <a:gd name="adj" fmla="val 20000"/>
            </a:avLst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32120" y="50657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" y="5522976"/>
            <a:ext cx="5349240" cy="502920"/>
          </a:xfrm>
          <a:prstGeom prst="rect">
            <a:avLst/>
          </a:prstGeom>
          <a:solidFill>
            <a:srgbClr val="FDF6E3">
              <a:alpha val="10000"/>
            </a:srgbClr>
          </a:solidFill>
          <a:ln w="9525">
            <a:solidFill>
              <a:srgbClr val="74C69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" y="5522976"/>
            <a:ext cx="73152" cy="502920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2688" y="556869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20231372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874520" y="5550408"/>
            <a:ext cx="3520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ميرنا بهجت نعيم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532120" y="5660136"/>
            <a:ext cx="411480" cy="228600"/>
          </a:xfrm>
          <a:prstGeom prst="roundRect">
            <a:avLst>
              <a:gd name="adj" fmla="val 20000"/>
            </a:avLst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56418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31520" y="6099048"/>
            <a:ext cx="5349240" cy="502920"/>
          </a:xfrm>
          <a:prstGeom prst="rect">
            <a:avLst/>
          </a:prstGeom>
          <a:solidFill>
            <a:srgbClr val="FDF6E3">
              <a:alpha val="10000"/>
            </a:srgbClr>
          </a:solidFill>
          <a:ln w="9525">
            <a:solidFill>
              <a:srgbClr val="DB5A3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1520" y="6099048"/>
            <a:ext cx="73152" cy="502920"/>
          </a:xfrm>
          <a:prstGeom prst="rect">
            <a:avLst/>
          </a:prstGeom>
          <a:solidFill>
            <a:srgbClr val="DB5A30"/>
          </a:solidFill>
          <a:ln w="12700">
            <a:solidFill>
              <a:srgbClr val="DB5A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2688" y="614476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20231303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874520" y="6126480"/>
            <a:ext cx="3520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عمرو شريف عباس عبد الهادى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532120" y="6236208"/>
            <a:ext cx="411480" cy="228600"/>
          </a:xfrm>
          <a:prstGeom prst="roundRect">
            <a:avLst>
              <a:gd name="adj" fmla="val 20000"/>
            </a:avLst>
          </a:prstGeom>
          <a:solidFill>
            <a:srgbClr val="DB5A30"/>
          </a:solidFill>
          <a:ln w="12700">
            <a:solidFill>
              <a:srgbClr val="DB5A3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32120" y="62179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355080" y="3794760"/>
            <a:ext cx="5349240" cy="502920"/>
          </a:xfrm>
          <a:prstGeom prst="rect">
            <a:avLst/>
          </a:prstGeom>
          <a:solidFill>
            <a:srgbClr val="FDF6E3">
              <a:alpha val="10000"/>
            </a:srgbClr>
          </a:solidFill>
          <a:ln w="9525">
            <a:solidFill>
              <a:srgbClr val="DB5A3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55080" y="3794760"/>
            <a:ext cx="73152" cy="502920"/>
          </a:xfrm>
          <a:prstGeom prst="rect">
            <a:avLst/>
          </a:prstGeom>
          <a:solidFill>
            <a:srgbClr val="DB5A30"/>
          </a:solidFill>
          <a:ln w="12700">
            <a:solidFill>
              <a:srgbClr val="DB5A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56248" y="38404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20231263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98080" y="3822192"/>
            <a:ext cx="3520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عبدالرحمن يحيي ابراهيم محمود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11155680" y="3931920"/>
            <a:ext cx="411480" cy="228600"/>
          </a:xfrm>
          <a:prstGeom prst="roundRect">
            <a:avLst>
              <a:gd name="adj" fmla="val 20000"/>
            </a:avLst>
          </a:prstGeom>
          <a:solidFill>
            <a:srgbClr val="DB5A30"/>
          </a:solidFill>
          <a:ln w="12700">
            <a:solidFill>
              <a:srgbClr val="DB5A3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155680" y="39136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355080" y="4370832"/>
            <a:ext cx="5349240" cy="502920"/>
          </a:xfrm>
          <a:prstGeom prst="rect">
            <a:avLst/>
          </a:prstGeom>
          <a:solidFill>
            <a:srgbClr val="FDF6E3">
              <a:alpha val="10000"/>
            </a:srgbClr>
          </a:solidFill>
          <a:ln w="9525">
            <a:solidFill>
              <a:srgbClr val="EF9F2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55080" y="4370832"/>
            <a:ext cx="73152" cy="5029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56248" y="4416552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20231427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498080" y="4398264"/>
            <a:ext cx="3520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اسماعيل محمد اسماعيل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11155680" y="4507992"/>
            <a:ext cx="411480" cy="228600"/>
          </a:xfrm>
          <a:prstGeom prst="roundRect">
            <a:avLst>
              <a:gd name="adj" fmla="val 20000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155680" y="44897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355080" y="4946904"/>
            <a:ext cx="5349240" cy="502920"/>
          </a:xfrm>
          <a:prstGeom prst="rect">
            <a:avLst/>
          </a:prstGeom>
          <a:solidFill>
            <a:srgbClr val="FDF6E3">
              <a:alpha val="10000"/>
            </a:srgbClr>
          </a:solidFill>
          <a:ln w="9525">
            <a:solidFill>
              <a:srgbClr val="EF9F2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355080" y="4946904"/>
            <a:ext cx="73152" cy="5029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56248" y="4992624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20231452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498080" y="4974336"/>
            <a:ext cx="3520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حامد محمد حامد السيد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11155680" y="5084064"/>
            <a:ext cx="411480" cy="228600"/>
          </a:xfrm>
          <a:prstGeom prst="roundRect">
            <a:avLst>
              <a:gd name="adj" fmla="val 20000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155680" y="50657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355080" y="5522976"/>
            <a:ext cx="5349240" cy="502920"/>
          </a:xfrm>
          <a:prstGeom prst="rect">
            <a:avLst/>
          </a:prstGeom>
          <a:solidFill>
            <a:srgbClr val="FDF6E3">
              <a:alpha val="10000"/>
            </a:srgbClr>
          </a:solidFill>
          <a:ln w="9525">
            <a:solidFill>
              <a:srgbClr val="EF9F2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55080" y="5522976"/>
            <a:ext cx="73152" cy="5029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56248" y="556869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20241709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7498080" y="5550408"/>
            <a:ext cx="3520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دميانه سامي معوض ونيس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11155680" y="5660136"/>
            <a:ext cx="411480" cy="228600"/>
          </a:xfrm>
          <a:prstGeom prst="roundRect">
            <a:avLst>
              <a:gd name="adj" fmla="val 20000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1155680" y="56418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355080" y="6099048"/>
            <a:ext cx="5349240" cy="502920"/>
          </a:xfrm>
          <a:prstGeom prst="rect">
            <a:avLst/>
          </a:prstGeom>
          <a:solidFill>
            <a:srgbClr val="FDF6E3">
              <a:alpha val="10000"/>
            </a:srgbClr>
          </a:solidFill>
          <a:ln w="9525">
            <a:solidFill>
              <a:srgbClr val="EF9F2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355080" y="6099048"/>
            <a:ext cx="73152" cy="5029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56248" y="614476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20251031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7498080" y="6126480"/>
            <a:ext cx="3520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جاسمن وائل عبد العزيز محمد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11155680" y="6236208"/>
            <a:ext cx="411480" cy="228600"/>
          </a:xfrm>
          <a:prstGeom prst="roundRect">
            <a:avLst>
              <a:gd name="adj" fmla="val 20000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1155680" y="62179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73152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</a:t>
            </a:r>
            <a:r>
              <a:rPr lang="en-US" sz="11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64240" cy="0"/>
          </a:xfrm>
          <a:prstGeom prst="line">
            <a:avLst/>
          </a:prstGeom>
          <a:noFill/>
          <a:ln w="9525">
            <a:solidFill>
              <a:srgbClr val="E4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Story Craft?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reading companion designed for children aged 4–12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6400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cross-platform Flutter app where kids can: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4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 curated library of bilingual stories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interactively, page-by-page, at their own pace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favourites and resume from where they left off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achievements as they finish books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their own stories in the built-in editor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4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get a parental-controls dashboard to set age limits and content filters.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0" y="2194560"/>
            <a:ext cx="4114800" cy="114300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2194560"/>
            <a:ext cx="91440" cy="1143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2304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0" y="25237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772400" y="2971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domains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8080" y="3520440"/>
            <a:ext cx="4114800" cy="114300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520440"/>
            <a:ext cx="91440" cy="1143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3630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LANGS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0" y="384962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 / EN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772400" y="4297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full RTL layout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98080" y="4846320"/>
            <a:ext cx="4114800" cy="114300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4846320"/>
            <a:ext cx="91440" cy="1143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49560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517550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iOS · Android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772400" y="5623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codebase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5836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Craft  ·  قصصي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64240" cy="0"/>
          </a:xfrm>
          <a:prstGeom prst="line">
            <a:avLst/>
          </a:prstGeom>
          <a:noFill/>
          <a:ln w="9525">
            <a:solidFill>
              <a:srgbClr val="E4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of the Trade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used and why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2560320" cy="169164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86000"/>
            <a:ext cx="256032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14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Flutter 3.41.6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3246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codebase for iOS + Android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286000"/>
            <a:ext cx="2560320" cy="169164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2286000"/>
            <a:ext cx="256032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2514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11880" y="2788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11880" y="3246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null-safety, modern syntax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286000"/>
            <a:ext cx="2560320" cy="169164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286000"/>
            <a:ext cx="2560320" cy="73152"/>
          </a:xfrm>
          <a:prstGeom prst="rect">
            <a:avLst/>
          </a:prstGeom>
          <a:solidFill>
            <a:srgbClr val="DB5A30"/>
          </a:solidFill>
          <a:ln w="12700">
            <a:solidFill>
              <a:srgbClr val="DB5A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514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B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46520" y="2788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Firebase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46520" y="3246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Firestore (NoSQL realtime DB)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52560" y="2286000"/>
            <a:ext cx="2560320" cy="169164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560" y="2286000"/>
            <a:ext cx="2560320" cy="73152"/>
          </a:xfrm>
          <a:prstGeom prst="rect">
            <a:avLst/>
          </a:prstGeom>
          <a:solidFill>
            <a:srgbClr val="DB5A30"/>
          </a:solidFill>
          <a:ln w="12700">
            <a:solidFill>
              <a:srgbClr val="DB5A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81160" y="2514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B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CDN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281160" y="2788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Cloudinary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281160" y="3246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+ cover image hosting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251960"/>
            <a:ext cx="2560320" cy="169164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251960"/>
            <a:ext cx="2560320" cy="7315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480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" y="4754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 / Cubit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77240" y="5212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testable state machines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83280" y="4251960"/>
            <a:ext cx="2560320" cy="169164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3280" y="4251960"/>
            <a:ext cx="2560320" cy="7315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11880" y="4480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11880" y="4754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GetIt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611880" y="5212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locator for clean wiring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4251960"/>
            <a:ext cx="2560320" cy="169164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4251960"/>
            <a:ext cx="256032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4480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46520" y="4754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flutter_screenutil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446520" y="5212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.w / .h / .sp adapts to any screen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052560" y="4251960"/>
            <a:ext cx="2560320" cy="169164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52560" y="4251960"/>
            <a:ext cx="256032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81160" y="4480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281160" y="4754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easy_localization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9281160" y="5212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+ EN with RTL flip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8640" y="65836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Craft  ·  قصصي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64240" cy="0"/>
          </a:xfrm>
          <a:prstGeom prst="line">
            <a:avLst/>
          </a:prstGeom>
          <a:noFill/>
          <a:ln w="9525">
            <a:solidFill>
              <a:srgbClr val="E4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Architecture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per feature, dependencies always point inward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7315200" cy="1234440"/>
          </a:xfrm>
          <a:prstGeom prst="rect">
            <a:avLst/>
          </a:prstGeom>
          <a:solidFill>
            <a:srgbClr val="FDF6E3"/>
          </a:solidFill>
          <a:ln w="25400">
            <a:solidFill>
              <a:srgbClr val="2D6A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86000"/>
            <a:ext cx="137160" cy="12344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68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· Widgets · Cubits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685032"/>
            <a:ext cx="7315200" cy="1234440"/>
          </a:xfrm>
          <a:prstGeom prst="rect">
            <a:avLst/>
          </a:prstGeom>
          <a:solidFill>
            <a:srgbClr val="FDF6E3"/>
          </a:solidFill>
          <a:ln w="25400">
            <a:solidFill>
              <a:srgbClr val="EF9F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685032"/>
            <a:ext cx="137160" cy="123444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8679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32511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· UseCases · Repository contracts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084064"/>
            <a:ext cx="7315200" cy="1234440"/>
          </a:xfrm>
          <a:prstGeom prst="rect">
            <a:avLst/>
          </a:prstGeom>
          <a:solidFill>
            <a:srgbClr val="FDF6E3"/>
          </a:solidFill>
          <a:ln w="25400">
            <a:solidFill>
              <a:srgbClr val="DB5A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084064"/>
            <a:ext cx="137160" cy="1234440"/>
          </a:xfrm>
          <a:prstGeom prst="rect">
            <a:avLst/>
          </a:prstGeom>
          <a:solidFill>
            <a:srgbClr val="DB5A30"/>
          </a:solidFill>
          <a:ln w="12700">
            <a:solidFill>
              <a:srgbClr val="DB5A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26694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DB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572414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Datasources · Repository implementations · Models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06240" y="3538728"/>
            <a:ext cx="0" cy="128016"/>
          </a:xfrm>
          <a:prstGeom prst="line">
            <a:avLst/>
          </a:prstGeom>
          <a:noFill/>
          <a:ln w="19050">
            <a:solidFill>
              <a:srgbClr val="6B7B7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206240" y="4937760"/>
            <a:ext cx="0" cy="128016"/>
          </a:xfrm>
          <a:prstGeom prst="line">
            <a:avLst/>
          </a:prstGeom>
          <a:noFill/>
          <a:ln w="19050">
            <a:solidFill>
              <a:srgbClr val="6B7B72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001000" y="3611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point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downward / inward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78408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these rules matter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784080" y="2560320"/>
            <a:ext cx="182880" cy="1828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76688" y="2514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never imports data classes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784080" y="3337560"/>
            <a:ext cx="182880" cy="1828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76688" y="32918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has zero Flutter imports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784080" y="4114800"/>
            <a:ext cx="182880" cy="1828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76688" y="4069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swaps to a mock without touching UI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784080" y="4892040"/>
            <a:ext cx="182880" cy="1828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76688" y="4846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can be unit-tested alone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5836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Craft  ·  قصصي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64240" cy="0"/>
          </a:xfrm>
          <a:prstGeom prst="line">
            <a:avLst/>
          </a:prstGeom>
          <a:noFill/>
          <a:ln w="9525">
            <a:solidFill>
              <a:srgbClr val="E4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Management &amp; Dependency Injection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for predictability, GetIt for wiring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394960" cy="402336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DF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 / Cubit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Cubit per screen / flow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AuthCubit, LibraryCubit, ThemeCubit, NotificationsCubit, …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functions: state → state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test in isolation (no widgets)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BlocBuilder rebuilds only what changed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286000"/>
            <a:ext cx="5394960" cy="402336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solidFill>
            <a:srgbClr val="DB5A30"/>
          </a:solidFill>
          <a:ln w="12700">
            <a:solidFill>
              <a:srgbClr val="DB5A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DF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GetIt — Service Locator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292608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wiring lives in service_locator.dart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registerSingleton, registerLazySingleton, registerFactory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Cubits get repositories, repositories get datasources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constructors filled with new objects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can override registrations with mocks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5836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Craft  ·  قصصي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64240" cy="0"/>
          </a:xfrm>
          <a:prstGeom prst="line">
            <a:avLst/>
          </a:prstGeom>
          <a:noFill/>
          <a:ln w="9525">
            <a:solidFill>
              <a:srgbClr val="E4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Firebase + Cloudinary?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specialised services beat one generic backend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split responsibilities so each tool does what it does best.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3657600" cy="384048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60320"/>
            <a:ext cx="365760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/ SIGN-UP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Firebase Auth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2960" y="3611880"/>
            <a:ext cx="731520" cy="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4048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Google Sign-In out of the box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tokens, no password handling on our side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covers thousands of users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2560320"/>
            <a:ext cx="3657600" cy="384048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2560320"/>
            <a:ext cx="365760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DATA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Firestore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663440" y="3611880"/>
            <a:ext cx="731520" cy="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84048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document store, realtime listeners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cache built-in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rules enforced server-side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2560320"/>
            <a:ext cx="3657600" cy="384048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2560320"/>
            <a:ext cx="3657600" cy="73152"/>
          </a:xfrm>
          <a:prstGeom prst="rect">
            <a:avLst/>
          </a:prstGeom>
          <a:solidFill>
            <a:srgbClr val="DB5A30"/>
          </a:solidFill>
          <a:ln w="12700">
            <a:solidFill>
              <a:srgbClr val="DB5A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B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0392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Cloudinary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503920" y="3611880"/>
            <a:ext cx="731520" cy="0"/>
          </a:xfrm>
          <a:prstGeom prst="line">
            <a:avLst/>
          </a:prstGeom>
          <a:noFill/>
          <a:ln w="25400">
            <a:solidFill>
              <a:srgbClr val="DB5A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384048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&amp; profile photo hosting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Auto-resize and transform via URL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/ faster than Firebase Storage for our use case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5836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Craft  ·  قصصي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64240" cy="0"/>
          </a:xfrm>
          <a:prstGeom prst="line">
            <a:avLst/>
          </a:prstGeom>
          <a:noFill/>
          <a:ln w="9525">
            <a:solidFill>
              <a:srgbClr val="E4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Feature-Based Folder Structure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is a self-contained slice of the app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6766560" cy="4114800"/>
          </a:xfrm>
          <a:prstGeom prst="rect">
            <a:avLst/>
          </a:prstGeom>
          <a:solidFill>
            <a:srgbClr val="1F2A24"/>
          </a:solidFill>
          <a:ln w="12700">
            <a:solidFill>
              <a:srgbClr val="1F2A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31720"/>
            <a:ext cx="6400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app/                   ← entry, router, root widget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router/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core/                  ← shared kernel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di/                ← service_locator.dart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theme/             ← colors, typography, ThemeCubit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responsive/        ← ScreenUtil scope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services/          ← cloudinary, secure storage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widgets/           ← Buttons, AppTextField, …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features/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auth/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stories/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profile/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notifications/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onboarding/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└── data/         ← datasources + repo impls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└── domain/       ← entities + usecases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└── presentation/ ← pages + widgets + cubits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589520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feature folders?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589520" y="269748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Locality.</a:t>
            </a:r>
            <a:r>
              <a:rPr lang="en-US" sz="13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new dev finds everything about "stories" in one folder.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Scalability.</a:t>
            </a:r>
            <a:r>
              <a:rPr lang="en-US" sz="13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New features = new folder. Zero collisions.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Testability.</a:t>
            </a:r>
            <a:r>
              <a:rPr lang="en-US" sz="13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layer can be unit-tested independently.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Reusability.</a:t>
            </a:r>
            <a:r>
              <a:rPr lang="en-US" sz="13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core/ holds widgets and services any feature can pull in.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5836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Craft  ·  قصصي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64240" cy="0"/>
          </a:xfrm>
          <a:prstGeom prst="line">
            <a:avLst/>
          </a:prstGeom>
          <a:noFill/>
          <a:ln w="9525">
            <a:solidFill>
              <a:srgbClr val="E4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Domain Entities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Dart classes — no Firebase, no Flutter imports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943600" cy="411480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94560"/>
            <a:ext cx="91440" cy="4114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774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with named constructor + final fields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154680"/>
          <a:ext cx="5394960" cy="30175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DF6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DF6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DF6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B5A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3F52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Firestore document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summary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B5A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3F52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B5A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3F52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ageRangeFrom / ageRangeTo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B5A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3F52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by reader 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durationMinutes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B5A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3F52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reading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coverEmoji + coverColor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B5A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String, Color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3F52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 when no image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coverImageUrl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B5A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String?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3F52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Cloudinary URL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B5A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List&lt;StoryPage&gt;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3F52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 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B5A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List&lt;String&gt;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3F52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keywords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isPremium / isFeatured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B5A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3F52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766560" y="2194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Companion entities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766560" y="2697480"/>
            <a:ext cx="4846320" cy="82296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2697480"/>
            <a:ext cx="73152" cy="82296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95160" y="28072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StoryPage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9516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+ image for a single page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766560" y="3657600"/>
            <a:ext cx="4846320" cy="82296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66560" y="3657600"/>
            <a:ext cx="73152" cy="82296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95160" y="3767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StoryCategory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99516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Adventure, Bedtime, Learning…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766560" y="4617720"/>
            <a:ext cx="4846320" cy="82296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766560" y="4617720"/>
            <a:ext cx="73152" cy="82296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95160" y="4727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ReadingProgress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995160" y="5074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page index per user/story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766560" y="5577840"/>
            <a:ext cx="4846320" cy="82296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66560" y="5577840"/>
            <a:ext cx="73152" cy="82296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95160" y="5687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StoryPageDraft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995160" y="6035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Editor-side mutable page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65836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Craft  ·  قصصي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64240" cy="0"/>
          </a:xfrm>
          <a:prstGeom prst="line">
            <a:avLst/>
          </a:prstGeom>
          <a:noFill/>
          <a:ln w="9525">
            <a:solidFill>
              <a:srgbClr val="E4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Firestore Collections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documents are organised in the cloud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772400" cy="4297680"/>
          </a:xfrm>
          <a:prstGeom prst="rect">
            <a:avLst/>
          </a:prstGeom>
          <a:solidFill>
            <a:srgbClr val="1F2A24"/>
          </a:solidFill>
          <a:ln w="12700">
            <a:solidFill>
              <a:srgbClr val="1F2A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31720"/>
            <a:ext cx="7406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 / {uid}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displayName, email, photoUrl, ageGroup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parentalSettings: { maxAge, blockedTags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achievements: [ … 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savedStories: [ storyId, … 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stories / {storyId}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title, summary, categoryId, …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ageRangeFrom, ageRangeTo, tags[]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pages [ subcollection 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└── {pageId} : { body, imageUrl, order 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 / {categoryId}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name, icon, color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 / {uid} / progress / {storyId}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lastPageIndex, updatedAt, completed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 / {notificationId}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DF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userId, type, payload, createdAt, read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9536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notes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95360" y="265176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dominate writes →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denormalise where it speeds up the library screen.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4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data scoped under /users/{uid}/…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Security Rules enforce ownership.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4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as a subcollection →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only when reading that story.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5836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Craft  ·  قصصي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CHOICES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64240" cy="0"/>
          </a:xfrm>
          <a:prstGeom prst="line">
            <a:avLst/>
          </a:prstGeom>
          <a:noFill/>
          <a:ln w="9525">
            <a:solidFill>
              <a:srgbClr val="E4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System &amp; Responsive Layout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cohesive, kid-friendly visual language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Palette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005840" cy="1005840"/>
          </a:xfrm>
          <a:prstGeom prst="rect">
            <a:avLst/>
          </a:prstGeom>
          <a:solidFill>
            <a:srgbClr val="2D6A4F"/>
          </a:solidFill>
          <a:ln w="6350">
            <a:solidFill>
              <a:srgbClr val="E4E0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49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primaryDark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3950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#2D6A4F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91640" y="2697480"/>
            <a:ext cx="1005840" cy="1005840"/>
          </a:xfrm>
          <a:prstGeom prst="rect">
            <a:avLst/>
          </a:prstGeom>
          <a:solidFill>
            <a:srgbClr val="1D9E75"/>
          </a:solidFill>
          <a:ln w="6350">
            <a:solidFill>
              <a:srgbClr val="E4E0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3749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91640" y="3950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#1D9E75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834640" y="2697480"/>
            <a:ext cx="1005840" cy="1005840"/>
          </a:xfrm>
          <a:prstGeom prst="rect">
            <a:avLst/>
          </a:prstGeom>
          <a:solidFill>
            <a:srgbClr val="DB5A30"/>
          </a:solidFill>
          <a:ln w="6350">
            <a:solidFill>
              <a:srgbClr val="E4E0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3749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34640" y="3950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#DB5A30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977640" y="2697480"/>
            <a:ext cx="1005840" cy="1005840"/>
          </a:xfrm>
          <a:prstGeom prst="rect">
            <a:avLst/>
          </a:prstGeom>
          <a:solidFill>
            <a:srgbClr val="EF9F27"/>
          </a:solidFill>
          <a:ln w="6350">
            <a:solidFill>
              <a:srgbClr val="E4E0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77640" y="3749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77640" y="3950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#EF9F27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120640" y="2697480"/>
            <a:ext cx="1005840" cy="1005840"/>
          </a:xfrm>
          <a:prstGeom prst="rect">
            <a:avLst/>
          </a:prstGeom>
          <a:solidFill>
            <a:srgbClr val="FDF6E3"/>
          </a:solidFill>
          <a:ln w="6350">
            <a:solidFill>
              <a:srgbClr val="E4E0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3749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20640" y="3950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#FDF6E3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3657600" cy="169164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572000"/>
            <a:ext cx="73152" cy="16916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709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 + Dark Mode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50749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ThemeCubit listens to Material's brightness; choice persisted via SharedPreferences across launches.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0" y="4572000"/>
            <a:ext cx="3657600" cy="169164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0" y="4572000"/>
            <a:ext cx="73152" cy="1691640"/>
          </a:xfrm>
          <a:prstGeom prst="rect">
            <a:avLst/>
          </a:prstGeom>
          <a:solidFill>
            <a:srgbClr val="DB5A30"/>
          </a:solidFill>
          <a:ln w="12700">
            <a:solidFill>
              <a:srgbClr val="DB5A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4709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ScreenUtil Sizing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50749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sizes use .w/.h/.sp so the layout adapts from a 4-inch phone to a 7-inch tablet without rewrites.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0" y="4572000"/>
            <a:ext cx="3657600" cy="169164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4572000"/>
            <a:ext cx="73152" cy="169164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4709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Reusable Widgets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12480" y="50749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Buttons, AppTextField, AppLoading, AppErrorView centralise look-and-feel — change once, propagate everywhere.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5836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Craft  ·  قصصي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CHOICES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64240" cy="0"/>
          </a:xfrm>
          <a:prstGeom prst="line">
            <a:avLst/>
          </a:prstGeom>
          <a:noFill/>
          <a:ln w="9525">
            <a:solidFill>
              <a:srgbClr val="E4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Kids — and for Both Languages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Bilingual, RTL-aware, and visually warm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486400" cy="411480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DF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Localization &amp; RTL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DB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easy_localization</a:t>
            </a: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loads JSON files from</a:t>
            </a:r>
            <a:r>
              <a:rPr lang="en-US" sz="1200" dirty="0">
                <a:solidFill>
                  <a:srgbClr val="DB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assets/translations/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6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language flips the whole UI to RTL automatically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typography uses dedicated font weights and line heights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keys are namespaced per feature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6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themselves are bilingual content — same story, two locales.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194560"/>
            <a:ext cx="5486400" cy="411480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solidFill>
            <a:srgbClr val="DB5A30"/>
          </a:solidFill>
          <a:ln w="12700">
            <a:solidFill>
              <a:srgbClr val="DB5A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DF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Kid-Friendly Visuals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278892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emoji + cover color fallback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broken-image icons even before Cloudinary loads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6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mascot illustrations on onboarding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SVG-based, sharp on every screen density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6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tap targets, rounded corners, soft shadows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small fingers and parental supervision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5836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Craft  ·  قصصي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CHOICES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64240" cy="0"/>
          </a:xfrm>
          <a:prstGeom prst="line">
            <a:avLst/>
          </a:prstGeom>
          <a:noFill/>
          <a:ln w="9525">
            <a:solidFill>
              <a:srgbClr val="E4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Navigation Flow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cold start to reading a story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2011680" cy="128016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78608" y="3566160"/>
            <a:ext cx="192024" cy="0"/>
          </a:xfrm>
          <a:prstGeom prst="line">
            <a:avLst/>
          </a:prstGeom>
          <a:noFill/>
          <a:ln w="19050">
            <a:solidFill>
              <a:srgbClr val="6B7B7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88920" y="2926080"/>
            <a:ext cx="2011680" cy="128016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 / Sign-Up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8036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   /sign-up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18888" y="3566160"/>
            <a:ext cx="192024" cy="0"/>
          </a:xfrm>
          <a:prstGeom prst="line">
            <a:avLst/>
          </a:prstGeom>
          <a:noFill/>
          <a:ln w="19050">
            <a:solidFill>
              <a:srgbClr val="6B7B7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29200" y="2926080"/>
            <a:ext cx="2011680" cy="128016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Layout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/mainLayout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59168" y="3566160"/>
            <a:ext cx="192024" cy="0"/>
          </a:xfrm>
          <a:prstGeom prst="line">
            <a:avLst/>
          </a:prstGeom>
          <a:noFill/>
          <a:ln w="19050">
            <a:solidFill>
              <a:srgbClr val="6B7B7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69480" y="2926080"/>
            <a:ext cx="2011680" cy="128016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Details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6092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/story/details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299448" y="3566160"/>
            <a:ext cx="192024" cy="0"/>
          </a:xfrm>
          <a:prstGeom prst="line">
            <a:avLst/>
          </a:prstGeom>
          <a:noFill/>
          <a:ln w="19050">
            <a:solidFill>
              <a:srgbClr val="6B7B7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509760" y="2926080"/>
            <a:ext cx="2011680" cy="12801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DF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Reader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/story/reader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Routing rules (lib/app/router/app_router.dart)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493776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routes resolved by</a:t>
            </a:r>
            <a:r>
              <a:rPr lang="en-US" sz="1200" dirty="0">
                <a:solidFill>
                  <a:srgbClr val="DB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AppRouter.onGenerateRoute</a:t>
            </a:r>
            <a:r>
              <a:rPr lang="en-US" sz="12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single switch statement, easy to audit.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successful auth →</a:t>
            </a:r>
            <a:r>
              <a:rPr lang="en-US" sz="1200" dirty="0">
                <a:solidFill>
                  <a:srgbClr val="DB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pushNamedAndRemoveUntil(mainLayoutPath, (_) =&gt; false)</a:t>
            </a:r>
            <a:r>
              <a:rPr lang="en-US" sz="12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back button can't return to login.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route is decided at runtime:</a:t>
            </a:r>
            <a:r>
              <a:rPr lang="en-US" sz="12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signed-in users skip onboarding and land on the library.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5836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Craft  ·  قصصي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64240" cy="0"/>
          </a:xfrm>
          <a:prstGeom prst="line">
            <a:avLst/>
          </a:prstGeom>
          <a:noFill/>
          <a:ln w="9525">
            <a:solidFill>
              <a:srgbClr val="E4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Got Tricky — and How We Solved It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real problems we hit on the way to release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40233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DF6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DF6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Hurt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DF6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without booting Firebase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3F52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MaterialApp pulls in Firebase + EasyLocalization at startup, breaking widget tests.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focused widgets and cubits in isolation; mock SharedPreferences. 10 tests, 0 Firebase calls.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upload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3F52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Storage felt heavy and pricey for small profile/cover images.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Cloudinary unsigned uploads via REST → URL stored in Firestore. Free tier covers us comfortably.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RTL ↔ LTR layout flips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3F52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custom paddings and icons broke when the language switched to Arabic.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Directionality + EdgeInsetsDirectional everywhere; ScreenUtil .w/.h kept margins symmetric.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auth-token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3F52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SharedPreferences isn't encrypted on Android — bad for refresh tokens.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Wrapped flutter_secure_storage in a SecureStorageHelper; keys live in Keystore / Keychain.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across two providers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3F52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 is fast and free for PRs, but can't sign iOS or push to Firebase App Distribution.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Split: GitHub Actions = test gate; Codemagic = release builds + Firebase distribution to qa-testers.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64240" cy="0"/>
          </a:xfrm>
          <a:prstGeom prst="line">
            <a:avLst/>
          </a:prstGeom>
          <a:noFill/>
          <a:ln w="9525">
            <a:solidFill>
              <a:srgbClr val="E4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Pipeline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providers, three workflows, one Firebase distribution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2194560" cy="914400"/>
          </a:xfrm>
          <a:prstGeom prst="rect">
            <a:avLst/>
          </a:prstGeom>
          <a:solidFill>
            <a:srgbClr val="1F2A24"/>
          </a:solidFill>
          <a:ln w="12700">
            <a:solidFill>
              <a:srgbClr val="1F2A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DF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 push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 · main · v* tag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88920" y="2651760"/>
            <a:ext cx="822960" cy="0"/>
          </a:xfrm>
          <a:prstGeom prst="line">
            <a:avLst/>
          </a:prstGeom>
          <a:noFill/>
          <a:ln w="19050">
            <a:solidFill>
              <a:srgbClr val="6B7B7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57600" y="1920240"/>
            <a:ext cx="3657600" cy="1463040"/>
          </a:xfrm>
          <a:prstGeom prst="rect">
            <a:avLst/>
          </a:prstGeom>
          <a:solidFill>
            <a:srgbClr val="FDF6E3"/>
          </a:solidFill>
          <a:ln w="254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2057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94760" y="2423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gate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94760" y="26974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format · analyze · test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coverage artifact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debug APK on main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0" y="3657600"/>
            <a:ext cx="3657600" cy="1463040"/>
          </a:xfrm>
          <a:prstGeom prst="rect">
            <a:avLst/>
          </a:prstGeom>
          <a:solidFill>
            <a:srgbClr val="FDF6E3"/>
          </a:solidFill>
          <a:ln w="25400">
            <a:solidFill>
              <a:srgbClr val="DB5A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Codemagic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94760" y="4160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pipeline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4760" y="44348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signed APK + AAB (Android)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signed IPA (iOS)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Mac runners + Xcode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60920" y="4389120"/>
            <a:ext cx="822960" cy="0"/>
          </a:xfrm>
          <a:prstGeom prst="line">
            <a:avLst/>
          </a:prstGeom>
          <a:noFill/>
          <a:ln w="19050">
            <a:solidFill>
              <a:srgbClr val="6B7B7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0" y="3657600"/>
            <a:ext cx="3383280" cy="14630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DF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Firebase App Distribution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6676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group: qa-testers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66760" y="44348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 receive an email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install link.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2651760" cy="82296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052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40080" y="6035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83280" y="5532120"/>
            <a:ext cx="2651760" cy="82296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56052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474720" y="6035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5532120"/>
            <a:ext cx="2651760" cy="82296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56052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60s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309360" y="6035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feedback time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52560" y="5532120"/>
            <a:ext cx="2651760" cy="822960"/>
          </a:xfrm>
          <a:prstGeom prst="rect">
            <a:avLst/>
          </a:prstGeom>
          <a:solidFill>
            <a:srgbClr val="FDF6E3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0" y="56052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9144000" y="6035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deploy steps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4572000" cy="4572000"/>
          </a:xfrm>
          <a:prstGeom prst="ellipse">
            <a:avLst/>
          </a:prstGeom>
          <a:solidFill>
            <a:srgbClr val="EF9F27">
              <a:alpha val="25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DB5A30">
              <a:alpha val="3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FDF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Q&amp;A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6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— what would you like to dig into?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383280" cy="457200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937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trade-offs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4937760"/>
            <a:ext cx="3383280" cy="457200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4937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data modelling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4937760"/>
            <a:ext cx="3383280" cy="457200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4937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5532120"/>
            <a:ext cx="3383280" cy="457200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532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setup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5532120"/>
            <a:ext cx="3383280" cy="457200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5532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&amp; RTL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5532120"/>
            <a:ext cx="3383280" cy="457200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5532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features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6400800"/>
            <a:ext cx="1371600" cy="0"/>
          </a:xfrm>
          <a:prstGeom prst="line">
            <a:avLst/>
          </a:prstGeom>
          <a:noFill/>
          <a:ln w="38100">
            <a:solidFill>
              <a:srgbClr val="EF9F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Story Craft  ·  قصصي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1761</Words>
  <Application>Microsoft Macintosh PowerPoint</Application>
  <PresentationFormat>Widescreen</PresentationFormat>
  <Paragraphs>403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 Craft — Project Presentation</dc:title>
  <dc:subject>PptxGenJS Presentation</dc:subject>
  <dc:creator>Story Craft Team</dc:creator>
  <cp:lastModifiedBy>Abdullah Ahmed Hassan</cp:lastModifiedBy>
  <cp:revision>1</cp:revision>
  <dcterms:created xsi:type="dcterms:W3CDTF">2026-05-05T01:39:57Z</dcterms:created>
  <dcterms:modified xsi:type="dcterms:W3CDTF">2026-05-05T01:41:17Z</dcterms:modified>
</cp:coreProperties>
</file>